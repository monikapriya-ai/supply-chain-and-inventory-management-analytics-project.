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365A52-D278-4F32-A4B1-F89FD32D3EC6}" v="26" dt="2025-11-21T21:08:36.5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tali Paliwal" userId="5564c05f17a3d243" providerId="LiveId" clId="{5503DAAE-1ECC-41D9-AEB9-69789C949943}"/>
    <pc:docChg chg="custSel addSld delSld modSld">
      <pc:chgData name="Mitali Paliwal" userId="5564c05f17a3d243" providerId="LiveId" clId="{5503DAAE-1ECC-41D9-AEB9-69789C949943}" dt="2025-11-22T04:43:03.827" v="115" actId="20577"/>
      <pc:docMkLst>
        <pc:docMk/>
      </pc:docMkLst>
      <pc:sldChg chg="delSp modSp mod">
        <pc:chgData name="Mitali Paliwal" userId="5564c05f17a3d243" providerId="LiveId" clId="{5503DAAE-1ECC-41D9-AEB9-69789C949943}" dt="2025-11-20T12:18:21.990" v="22" actId="478"/>
        <pc:sldMkLst>
          <pc:docMk/>
          <pc:sldMk cId="3334362608" sldId="256"/>
        </pc:sldMkLst>
        <pc:spChg chg="mod">
          <ac:chgData name="Mitali Paliwal" userId="5564c05f17a3d243" providerId="LiveId" clId="{5503DAAE-1ECC-41D9-AEB9-69789C949943}" dt="2025-11-20T10:55:47.420" v="20" actId="115"/>
          <ac:spMkLst>
            <pc:docMk/>
            <pc:sldMk cId="3334362608" sldId="256"/>
            <ac:spMk id="6" creationId="{A80AED97-8E43-79BD-8EE1-E8CD948FDB59}"/>
          </ac:spMkLst>
        </pc:spChg>
      </pc:sldChg>
      <pc:sldChg chg="addSp modSp mod">
        <pc:chgData name="Mitali Paliwal" userId="5564c05f17a3d243" providerId="LiveId" clId="{5503DAAE-1ECC-41D9-AEB9-69789C949943}" dt="2025-11-19T21:04:00.344" v="19" actId="1038"/>
        <pc:sldMkLst>
          <pc:docMk/>
          <pc:sldMk cId="4197235921" sldId="260"/>
        </pc:sldMkLst>
        <pc:picChg chg="add mod modCrop">
          <ac:chgData name="Mitali Paliwal" userId="5564c05f17a3d243" providerId="LiveId" clId="{5503DAAE-1ECC-41D9-AEB9-69789C949943}" dt="2025-11-19T21:04:00.344" v="19" actId="1038"/>
          <ac:picMkLst>
            <pc:docMk/>
            <pc:sldMk cId="4197235921" sldId="260"/>
            <ac:picMk id="6" creationId="{405D80BA-A973-E130-0198-DFD365765819}"/>
          </ac:picMkLst>
        </pc:picChg>
      </pc:sldChg>
      <pc:sldChg chg="addSp modSp mod">
        <pc:chgData name="Mitali Paliwal" userId="5564c05f17a3d243" providerId="LiveId" clId="{5503DAAE-1ECC-41D9-AEB9-69789C949943}" dt="2025-11-21T21:10:21.860" v="91" actId="1037"/>
        <pc:sldMkLst>
          <pc:docMk/>
          <pc:sldMk cId="1689305627" sldId="261"/>
        </pc:sldMkLst>
        <pc:picChg chg="add mod modCrop">
          <ac:chgData name="Mitali Paliwal" userId="5564c05f17a3d243" providerId="LiveId" clId="{5503DAAE-1ECC-41D9-AEB9-69789C949943}" dt="2025-11-21T21:10:21.860" v="91" actId="1037"/>
          <ac:picMkLst>
            <pc:docMk/>
            <pc:sldMk cId="1689305627" sldId="261"/>
            <ac:picMk id="5" creationId="{F0DDF668-59C4-E374-00C9-D5D7FC5B3451}"/>
          </ac:picMkLst>
        </pc:picChg>
      </pc:sldChg>
      <pc:sldChg chg="modSp mod">
        <pc:chgData name="Mitali Paliwal" userId="5564c05f17a3d243" providerId="LiveId" clId="{5503DAAE-1ECC-41D9-AEB9-69789C949943}" dt="2025-11-22T04:43:03.827" v="115" actId="20577"/>
        <pc:sldMkLst>
          <pc:docMk/>
          <pc:sldMk cId="3830631902" sldId="263"/>
        </pc:sldMkLst>
        <pc:spChg chg="mod">
          <ac:chgData name="Mitali Paliwal" userId="5564c05f17a3d243" providerId="LiveId" clId="{5503DAAE-1ECC-41D9-AEB9-69789C949943}" dt="2025-11-22T04:43:03.827" v="115" actId="20577"/>
          <ac:spMkLst>
            <pc:docMk/>
            <pc:sldMk cId="3830631902" sldId="263"/>
            <ac:spMk id="4" creationId="{E1325E19-A083-0029-77C2-65AEFAD1F74D}"/>
          </ac:spMkLst>
        </pc:spChg>
      </pc:sldChg>
      <pc:sldChg chg="addSp modSp new mod setBg">
        <pc:chgData name="Mitali Paliwal" userId="5564c05f17a3d243" providerId="LiveId" clId="{5503DAAE-1ECC-41D9-AEB9-69789C949943}" dt="2025-11-20T12:21:28.218" v="62" actId="1076"/>
        <pc:sldMkLst>
          <pc:docMk/>
          <pc:sldMk cId="805531570" sldId="265"/>
        </pc:sldMkLst>
        <pc:spChg chg="add mod">
          <ac:chgData name="Mitali Paliwal" userId="5564c05f17a3d243" providerId="LiveId" clId="{5503DAAE-1ECC-41D9-AEB9-69789C949943}" dt="2025-11-20T12:21:28.218" v="62" actId="1076"/>
          <ac:spMkLst>
            <pc:docMk/>
            <pc:sldMk cId="805531570" sldId="265"/>
            <ac:spMk id="2" creationId="{F0883ADE-1099-4D91-AA4E-26B6E96499A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32FA2-2DC2-58F2-02DE-923C09DE50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0F92BE-403D-9E6D-77DF-68276AFA30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BA677-CA45-C418-ABB2-855A50FF2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1EDB-79FF-444B-936E-CFA78628BEF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EF9AC-6A69-059D-6DFE-0B49CC74F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83C62-FD79-1118-578A-7373DBF70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7779B-9B93-4938-8BCE-74A36BE4A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230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1FD6A-0515-3FF6-9305-91E03EEB6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C2D74-8528-100B-B4BC-88159B676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E0089-C519-03C2-266C-00B0271DD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1EDB-79FF-444B-936E-CFA78628BEF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DA270-6CEF-ACBD-4518-62C5A4A4A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48245-D28B-FECC-217E-1342E2752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7779B-9B93-4938-8BCE-74A36BE4A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642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51D69-DE8D-C9E3-B4DD-C0BCD503C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1A9B5-D4EE-9CED-0A56-F63313882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0166D-F587-0E2D-1EBA-50B9965AE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1EDB-79FF-444B-936E-CFA78628BEF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4FD29-A637-74E0-B51C-6A0D7E280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ABD3C-3CD9-C66E-487D-1AE559129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7779B-9B93-4938-8BCE-74A36BE4A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823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61418-20A4-A0FE-18EA-16F6D7CB8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C9F96-6121-A6EC-71A7-E2341749EF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D23B31-2786-9BB8-0E76-74C49283B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E8CE1C-3CBE-69C3-BCEB-8ECCA2795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1EDB-79FF-444B-936E-CFA78628BEF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3402BF-BC0B-D42C-76C0-B62D5CD6C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B541B-D248-69BD-DBB6-F80D11184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7779B-9B93-4938-8BCE-74A36BE4A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87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B78A1-A6A9-13E1-F0D0-5493AF134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22944-889E-73EA-BD10-B23FFD761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56B3A-7980-0434-85C1-5745F46CE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6E9263-246B-DCAD-60CA-EEBD8CFA49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D60D-A132-8E0F-CECB-112CDE7BEF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37A015-79D6-7736-E8E6-54D188089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1EDB-79FF-444B-936E-CFA78628BEF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CF95DA-8B94-B276-F8F6-8951C36D6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289A8B-8133-F128-6CB1-B25D2E9F2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7779B-9B93-4938-8BCE-74A36BE4A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487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4A4E3-5F5B-6BAE-C39B-EE7D07589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AC9CA-A1DC-D34E-4F4F-7B1C91AA0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1EDB-79FF-444B-936E-CFA78628BEF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AD82B3-CD8B-DDF4-2BFF-D6972ECCA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88B77C-7607-E9C7-8F6A-D753DC9B2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7779B-9B93-4938-8BCE-74A36BE4A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047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9BD135-DFCB-B8FD-F589-E7FD90924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1EDB-79FF-444B-936E-CFA78628BEF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07948E-66F1-0B62-0254-B4161D20E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3BB5C-70A7-3969-3588-45A8FF7E0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7779B-9B93-4938-8BCE-74A36BE4A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541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70301-6FD0-D676-0023-D84BB13B2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7E260-65D8-3C3D-1262-C974A0C27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B2751A-886A-5C6B-427F-CF73439A70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C3C965-B529-A8CF-85ED-C2CF91000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1EDB-79FF-444B-936E-CFA78628BEF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87757-3724-2420-8E81-A8AE2284B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D63A3-CE73-3BBD-BD2E-F5B8B03E1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7779B-9B93-4938-8BCE-74A36BE4A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557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236AB-FD38-943E-5DEB-AB27AEAEB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28FF2B-7366-F922-CD55-104F5F47B2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35D2A-C0F6-0403-AD80-150762AB1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573CD3-836D-401C-06E9-53B2D4DC0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1EDB-79FF-444B-936E-CFA78628BEF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9FBA8C-132B-4759-3F4E-D323361F4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986C6C-22E1-65A4-6AFF-F47664F47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7779B-9B93-4938-8BCE-74A36BE4A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816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CDFD3-7682-57F5-061A-A65505C2E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752F91-1F07-24CA-57C3-CF09F4434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33C02-AA12-B86C-DA13-145B8559C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1EDB-79FF-444B-936E-CFA78628BEF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D6EA6-52CE-4669-11A0-8C8262A7D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0D243-BB7E-0636-D35C-CD29EF8E2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7779B-9B93-4938-8BCE-74A36BE4A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644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AC1257-0F47-34E8-5E29-8FF483D3F1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AA1130-337F-F460-B6B1-1C23A18B0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65D8C-B329-D658-0C6A-BA6471E43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1EDB-79FF-444B-936E-CFA78628BEF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E7953-B817-7928-57F7-4E1138D46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84D5E-A956-597C-B191-59CD40736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7779B-9B93-4938-8BCE-74A36BE4A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232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2000"/>
            <a:lum/>
          </a:blip>
          <a:srcRect/>
          <a:stretch>
            <a:fillRect l="23000" t="-5000" r="10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B49A90-9122-A04E-02FD-60F988FC2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11F9F-7E40-0A59-6000-E0BE8C2DF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B4A05-CA01-0899-5DD2-7DFFAFB7B5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51EDB-79FF-444B-936E-CFA78628BEF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E07DF-583B-6E06-3AEA-FC831E226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DB7EC-4157-7B46-544C-BE0783DAA9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7779B-9B93-4938-8BCE-74A36BE4A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562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oi.es/blogs/mintecon/page/60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technofaq.org/posts/2016/02/7-different-ways-of-improving-your-supply-chain-management-techniques-in-2016/" TargetMode="Externa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Mitali\OneDrive\Desktop\PROJECT%202\Supply%20chain%20%20sql.sql" TargetMode="External"/><Relationship Id="rId2" Type="http://schemas.openxmlformats.org/officeDocument/2006/relationships/hyperlink" Target="file:///C:\Users\Mitali\OneDrive\Desktop\PROJECT%202\inventory%20sql.sql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teacher-school-university-board-1015630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80AED97-8E43-79BD-8EE1-E8CD948FDB59}"/>
              </a:ext>
            </a:extLst>
          </p:cNvPr>
          <p:cNvSpPr/>
          <p:nvPr/>
        </p:nvSpPr>
        <p:spPr>
          <a:xfrm>
            <a:off x="1510359" y="255638"/>
            <a:ext cx="9603911" cy="92333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660033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lgerian" panose="04020705040A02060702" pitchFamily="82" charset="0"/>
              </a:rPr>
              <a:t>SUPPLY CHAIN MANAGEMENT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A1B2EE-F352-FE56-29EB-E91FA41F82E9}"/>
              </a:ext>
            </a:extLst>
          </p:cNvPr>
          <p:cNvSpPr/>
          <p:nvPr/>
        </p:nvSpPr>
        <p:spPr>
          <a:xfrm>
            <a:off x="3059752" y="1384342"/>
            <a:ext cx="607249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2000" dirty="0">
                <a:latin typeface="Algerian" panose="04020705040A02060702" pitchFamily="82" charset="0"/>
              </a:rPr>
              <a:t>Analysis, Optimization &amp; Strategic Insights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64E830-68FC-7E60-F237-32E7BE0062EC}"/>
              </a:ext>
            </a:extLst>
          </p:cNvPr>
          <p:cNvSpPr/>
          <p:nvPr/>
        </p:nvSpPr>
        <p:spPr>
          <a:xfrm>
            <a:off x="1835285" y="4122896"/>
            <a:ext cx="4436536" cy="357020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8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Presented By –</a:t>
            </a:r>
          </a:p>
          <a:p>
            <a:pPr marL="914400" indent="-914400">
              <a:buFont typeface="Wingdings" panose="05000000000000000000" pitchFamily="2" charset="2"/>
              <a:buChar char="v"/>
            </a:pP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Mitali Sharma</a:t>
            </a:r>
          </a:p>
          <a:p>
            <a:pPr marL="914400" indent="-914400">
              <a:buFont typeface="Wingdings" panose="05000000000000000000" pitchFamily="2" charset="2"/>
              <a:buChar char="v"/>
            </a:pPr>
            <a:r>
              <a:rPr lang="en-US" sz="2400" b="1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Bolerao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Ramya</a:t>
            </a:r>
          </a:p>
          <a:p>
            <a:pPr marL="914400" indent="-914400">
              <a:buFont typeface="Wingdings" panose="05000000000000000000" pitchFamily="2" charset="2"/>
              <a:buChar char="v"/>
            </a:pP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Fathima Saina </a:t>
            </a:r>
            <a:r>
              <a:rPr lang="en-US" sz="2400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Ajumal</a:t>
            </a:r>
            <a:endParaRPr lang="en-US" sz="24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14400" indent="-914400">
              <a:buFont typeface="Wingdings" panose="05000000000000000000" pitchFamily="2" charset="2"/>
              <a:buChar char="v"/>
            </a:pP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Santosh Kumar</a:t>
            </a:r>
          </a:p>
          <a:p>
            <a:pPr marL="914400" indent="-914400">
              <a:buFont typeface="Wingdings" panose="05000000000000000000" pitchFamily="2" charset="2"/>
              <a:buChar char="v"/>
            </a:pP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Ambati Mano</a:t>
            </a:r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har Reddy</a:t>
            </a:r>
          </a:p>
          <a:p>
            <a:pPr marL="914400" indent="-914400">
              <a:buFont typeface="Wingdings" panose="05000000000000000000" pitchFamily="2" charset="2"/>
              <a:buChar char="v"/>
            </a:pP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Monika </a:t>
            </a:r>
            <a:r>
              <a:rPr lang="en-US" sz="2400" b="1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Kodavati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14400" indent="-914400" algn="ctr">
              <a:buAutoNum type="arabicPeriod"/>
            </a:pP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4849D6-5F13-0A83-C000-385CC8F88004}"/>
              </a:ext>
            </a:extLst>
          </p:cNvPr>
          <p:cNvSpPr/>
          <p:nvPr/>
        </p:nvSpPr>
        <p:spPr>
          <a:xfrm>
            <a:off x="2066313" y="2404257"/>
            <a:ext cx="8059373" cy="8925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24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Tools &amp; Technologies:</a:t>
            </a:r>
          </a:p>
          <a:p>
            <a:pPr algn="ctr"/>
            <a:r>
              <a:rPr lang="en-IN" sz="2800" dirty="0"/>
              <a:t>📊 </a:t>
            </a:r>
            <a:r>
              <a:rPr lang="en-IN" sz="2800" b="1" dirty="0"/>
              <a:t>Excel</a:t>
            </a:r>
            <a:r>
              <a:rPr lang="en-IN" sz="2800" dirty="0"/>
              <a:t> 📈 </a:t>
            </a:r>
            <a:r>
              <a:rPr lang="en-IN" sz="2800" b="1" dirty="0"/>
              <a:t>Power BI</a:t>
            </a:r>
            <a:r>
              <a:rPr lang="en-IN" sz="2800" dirty="0"/>
              <a:t> 🧠 </a:t>
            </a:r>
            <a:r>
              <a:rPr lang="en-IN" sz="2800" b="1" dirty="0"/>
              <a:t>Python</a:t>
            </a:r>
            <a:r>
              <a:rPr lang="en-IN" sz="2800" dirty="0"/>
              <a:t> 📦 </a:t>
            </a:r>
            <a:r>
              <a:rPr lang="en-IN" sz="2800" b="1" dirty="0"/>
              <a:t>SQL</a:t>
            </a:r>
            <a:endParaRPr lang="en-US" sz="28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66404B-40CF-F3FB-A426-0F23FDC452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867364" y="4779630"/>
            <a:ext cx="4171736" cy="196475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5B9CC53-73B9-BB6C-CAEB-B0AEF68948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41018" y="1178968"/>
            <a:ext cx="2318734" cy="1244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362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2441C-2928-0A95-5DC7-AF19289A5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📌 </a:t>
            </a:r>
            <a:r>
              <a:rPr lang="en-US" sz="3100" b="1" dirty="0">
                <a:latin typeface="Algerian" panose="04020705040A02060702" pitchFamily="82" charset="0"/>
              </a:rPr>
              <a:t>Supply Chain Management Project – Summary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ACF48-7673-80F5-28DE-11BD37A6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6348"/>
            <a:ext cx="10515600" cy="4790615"/>
          </a:xfrm>
        </p:spPr>
        <p:txBody>
          <a:bodyPr>
            <a:no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Analyzed key supply chain components with a focus on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Inventory Management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procurement, logistics, and demand trends.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Data cleaned and prepared using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Excel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MySQL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for accurate analysis.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Conducted insights on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inventory levels, stockouts, lead times, warehouse utilization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and supplier performance.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Identified bottlenecks and improvement opportunities to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reduce costs and enhance process efficiency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Built interactive dashboards using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Power BI, Tableau, and Excel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to visualize major KPIs:</a:t>
            </a:r>
          </a:p>
          <a:p>
            <a:pPr lvl="1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Inventory Turnover</a:t>
            </a:r>
          </a:p>
          <a:p>
            <a:pPr lvl="1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Order Cycle Time</a:t>
            </a:r>
          </a:p>
          <a:p>
            <a:pPr lvl="1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Forecast Accuracy</a:t>
            </a:r>
          </a:p>
          <a:p>
            <a:pPr lvl="1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Logistics &amp; Operational Costs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Enabled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data-driven decision making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through clear insights and visual analytics.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Showcased how analytical tools improve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supply chain visibility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optimize inventory processes, and support strategic planning.</a:t>
            </a:r>
          </a:p>
        </p:txBody>
      </p:sp>
    </p:spTree>
    <p:extLst>
      <p:ext uri="{BB962C8B-B14F-4D97-AF65-F5344CB8AC3E}">
        <p14:creationId xmlns:p14="http://schemas.microsoft.com/office/powerpoint/2010/main" val="1142044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EECBB-677B-FB55-479E-F63617127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sz="3600" dirty="0">
                <a:latin typeface="Algerian" panose="04020705040A02060702" pitchFamily="82" charset="0"/>
              </a:rPr>
              <a:t>KPI’s used </a:t>
            </a:r>
            <a:r>
              <a:rPr lang="en-IN" sz="2400" dirty="0">
                <a:solidFill>
                  <a:srgbClr val="660033"/>
                </a:solidFill>
                <a:latin typeface="Algerian" panose="04020705040A02060702" pitchFamily="82" charset="0"/>
              </a:rPr>
              <a:t> </a:t>
            </a:r>
            <a:br>
              <a:rPr lang="en-IN" sz="2400" dirty="0">
                <a:solidFill>
                  <a:srgbClr val="660033"/>
                </a:solidFill>
                <a:latin typeface="Algerian" panose="04020705040A02060702" pitchFamily="82" charset="0"/>
              </a:rPr>
            </a:br>
            <a:r>
              <a:rPr lang="en-IN" sz="2400" dirty="0">
                <a:solidFill>
                  <a:srgbClr val="660033"/>
                </a:solidFill>
                <a:latin typeface="Algerian" panose="04020705040A02060702" pitchFamily="82" charset="0"/>
              </a:rPr>
              <a:t>             ( </a:t>
            </a:r>
            <a:r>
              <a:rPr lang="en-IN" sz="2400" u="sng" dirty="0">
                <a:solidFill>
                  <a:srgbClr val="660033"/>
                </a:solidFill>
                <a:latin typeface="Algerian" panose="04020705040A02060702" pitchFamily="82" charset="0"/>
              </a:rPr>
              <a:t>Supply CHAIN</a:t>
            </a:r>
            <a:r>
              <a:rPr lang="en-IN" sz="2400" dirty="0">
                <a:solidFill>
                  <a:srgbClr val="660033"/>
                </a:solidFill>
                <a:latin typeface="Algerian" panose="04020705040A02060702" pitchFamily="82" charset="0"/>
              </a:rPr>
              <a:t> )                                          ( </a:t>
            </a:r>
            <a:r>
              <a:rPr lang="en-IN" sz="2400" u="sng" dirty="0">
                <a:solidFill>
                  <a:srgbClr val="660033"/>
                </a:solidFill>
                <a:latin typeface="Algerian" panose="04020705040A02060702" pitchFamily="82" charset="0"/>
              </a:rPr>
              <a:t>INVENTORY</a:t>
            </a:r>
            <a:r>
              <a:rPr lang="en-IN" sz="2400" dirty="0">
                <a:solidFill>
                  <a:srgbClr val="660033"/>
                </a:solidFill>
                <a:latin typeface="Algerian" panose="04020705040A02060702" pitchFamily="82" charset="0"/>
              </a:rPr>
              <a:t> )</a:t>
            </a:r>
            <a:endParaRPr lang="en-IN" sz="2400" dirty="0">
              <a:solidFill>
                <a:srgbClr val="66003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0C03E-9E50-2283-991A-18EDB3BD6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48" y="1563328"/>
            <a:ext cx="12024852" cy="5368413"/>
          </a:xfrm>
        </p:spPr>
        <p:txBody>
          <a:bodyPr numCol="5">
            <a:normAutofit/>
          </a:bodyPr>
          <a:lstStyle/>
          <a:p>
            <a:r>
              <a:rPr lang="en-IN" sz="1200" b="1" dirty="0"/>
              <a:t>Total Sales</a:t>
            </a:r>
          </a:p>
          <a:p>
            <a:r>
              <a:rPr lang="en-IN" sz="1200" b="1" dirty="0"/>
              <a:t>Total Quantity Sold</a:t>
            </a:r>
          </a:p>
          <a:p>
            <a:r>
              <a:rPr lang="en-IN" sz="1200" b="1" dirty="0"/>
              <a:t>Gross Profit</a:t>
            </a:r>
          </a:p>
          <a:p>
            <a:r>
              <a:rPr lang="en-IN" sz="1200" b="1" dirty="0"/>
              <a:t>Profit Margin %</a:t>
            </a:r>
          </a:p>
          <a:p>
            <a:r>
              <a:rPr lang="en-IN" sz="1200" b="1" dirty="0"/>
              <a:t>Average Selling Price</a:t>
            </a:r>
          </a:p>
          <a:p>
            <a:r>
              <a:rPr lang="en-IN" sz="1200" b="1" dirty="0"/>
              <a:t>Total Products Sold</a:t>
            </a:r>
          </a:p>
          <a:p>
            <a:r>
              <a:rPr lang="en-IN" sz="1200" b="1" dirty="0"/>
              <a:t>Average Sales per Product</a:t>
            </a:r>
          </a:p>
          <a:p>
            <a:r>
              <a:rPr lang="en-IN" sz="1200" b="1" dirty="0"/>
              <a:t>Inventory Value</a:t>
            </a:r>
          </a:p>
          <a:p>
            <a:r>
              <a:rPr lang="en-IN" sz="1200" b="1" dirty="0"/>
              <a:t>Stock Turnover Ratio</a:t>
            </a:r>
          </a:p>
          <a:p>
            <a:r>
              <a:rPr lang="en-IN" sz="1200" b="1" dirty="0"/>
              <a:t>Top Product Family</a:t>
            </a:r>
          </a:p>
          <a:p>
            <a:r>
              <a:rPr lang="en-IN" sz="1200" b="1" dirty="0"/>
              <a:t>Total Customers</a:t>
            </a:r>
          </a:p>
          <a:p>
            <a:r>
              <a:rPr lang="en-IN" sz="1200" b="1" dirty="0"/>
              <a:t>Active Loyalty Members</a:t>
            </a:r>
          </a:p>
          <a:p>
            <a:r>
              <a:rPr lang="en-IN" sz="1200" b="1" dirty="0"/>
              <a:t>Average Customer Age</a:t>
            </a:r>
          </a:p>
          <a:p>
            <a:r>
              <a:rPr lang="en-IN" sz="1200" b="1" dirty="0"/>
              <a:t>Repeat Customer %</a:t>
            </a:r>
          </a:p>
          <a:p>
            <a:r>
              <a:rPr lang="en-IN" sz="1200" b="1" dirty="0"/>
              <a:t>Customer Lifetime Value (CLV)</a:t>
            </a:r>
          </a:p>
          <a:p>
            <a:r>
              <a:rPr lang="en-IN" sz="1200" b="1" dirty="0"/>
              <a:t>Total Stores</a:t>
            </a:r>
          </a:p>
          <a:p>
            <a:r>
              <a:rPr lang="en-IN" sz="1200" b="1" dirty="0"/>
              <a:t>Average Monthly Sales per Store</a:t>
            </a:r>
          </a:p>
          <a:p>
            <a:r>
              <a:rPr lang="en-IN" sz="1200" b="1" dirty="0"/>
              <a:t>Average Rent Cost</a:t>
            </a:r>
          </a:p>
          <a:p>
            <a:r>
              <a:rPr lang="en-IN" sz="1200" b="1" dirty="0"/>
              <a:t>Online vs Offline Sales %</a:t>
            </a:r>
          </a:p>
          <a:p>
            <a:r>
              <a:rPr lang="en-IN" sz="1200" b="1" dirty="0"/>
              <a:t>Average Employee Productivity</a:t>
            </a:r>
          </a:p>
          <a:p>
            <a:pPr lvl="0"/>
            <a:r>
              <a:rPr lang="en-IN" sz="1200" b="1" dirty="0"/>
              <a:t>Fill Rate %</a:t>
            </a:r>
          </a:p>
          <a:p>
            <a:pPr lvl="0"/>
            <a:r>
              <a:rPr lang="en-IN" sz="1200" b="1" dirty="0"/>
              <a:t>Forecast Accuracy %</a:t>
            </a:r>
          </a:p>
          <a:p>
            <a:pPr lvl="0"/>
            <a:r>
              <a:rPr lang="en-IN" sz="1200" b="1" dirty="0"/>
              <a:t>Average Order Processing Time (Days)</a:t>
            </a:r>
          </a:p>
          <a:p>
            <a:pPr lvl="0"/>
            <a:r>
              <a:rPr lang="en-IN" sz="1200" b="1" dirty="0"/>
              <a:t>% Orders Shipped Late</a:t>
            </a:r>
          </a:p>
          <a:p>
            <a:pPr lvl="0"/>
            <a:r>
              <a:rPr lang="en-IN" sz="1200" b="1" dirty="0"/>
              <a:t>Average Delay Days</a:t>
            </a:r>
          </a:p>
          <a:p>
            <a:pPr lvl="0"/>
            <a:r>
              <a:rPr lang="en-IN" sz="1200" b="1" dirty="0"/>
              <a:t>Total Orders</a:t>
            </a:r>
          </a:p>
          <a:p>
            <a:pPr lvl="0"/>
            <a:r>
              <a:rPr lang="en-IN" sz="1200" b="1" dirty="0"/>
              <a:t>Total Stock On Hand</a:t>
            </a:r>
          </a:p>
          <a:p>
            <a:pPr lvl="0"/>
            <a:r>
              <a:rPr lang="en-IN" sz="1200" b="1" dirty="0"/>
              <a:t>Total Reorder Level</a:t>
            </a:r>
          </a:p>
          <a:p>
            <a:pPr lvl="0"/>
            <a:r>
              <a:rPr lang="en-IN" sz="1200" b="1" dirty="0"/>
              <a:t>Number of SKUs Below Reorder Level</a:t>
            </a:r>
          </a:p>
          <a:p>
            <a:pPr lvl="0"/>
            <a:r>
              <a:rPr lang="en-IN" sz="1200" b="1" dirty="0"/>
              <a:t>Average Lead Time (Days)</a:t>
            </a:r>
          </a:p>
          <a:p>
            <a:pPr lvl="0"/>
            <a:r>
              <a:rPr lang="en-IN" sz="1200" b="1" dirty="0"/>
              <a:t>Stock Coverage (Days)</a:t>
            </a:r>
          </a:p>
          <a:p>
            <a:pPr lvl="0"/>
            <a:r>
              <a:rPr lang="en-IN" sz="1200" b="1" dirty="0"/>
              <a:t>Total Procurement Cost</a:t>
            </a:r>
          </a:p>
          <a:p>
            <a:pPr lvl="0"/>
            <a:r>
              <a:rPr lang="en-IN" sz="1200" b="1" dirty="0"/>
              <a:t>Average Lead Time</a:t>
            </a:r>
          </a:p>
          <a:p>
            <a:pPr lvl="0"/>
            <a:r>
              <a:rPr lang="en-IN" sz="1200" b="1" dirty="0"/>
              <a:t>On-Time Supply %</a:t>
            </a:r>
          </a:p>
          <a:p>
            <a:pPr lvl="0"/>
            <a:r>
              <a:rPr lang="en-IN" sz="1200" b="1" dirty="0"/>
              <a:t>Total Transportation Cost</a:t>
            </a:r>
          </a:p>
          <a:p>
            <a:pPr lvl="0"/>
            <a:r>
              <a:rPr lang="en-IN" sz="1200" b="1" dirty="0"/>
              <a:t>Average Transportation Cost per Order</a:t>
            </a:r>
          </a:p>
          <a:p>
            <a:pPr lvl="0"/>
            <a:r>
              <a:rPr lang="en-IN" sz="1200" b="1" dirty="0"/>
              <a:t>Carrier On-Time %</a:t>
            </a:r>
          </a:p>
          <a:p>
            <a:pPr lvl="0"/>
            <a:r>
              <a:rPr lang="en-IN" sz="1200" b="1" dirty="0"/>
              <a:t>Average Delay by Carrier</a:t>
            </a:r>
          </a:p>
          <a:p>
            <a:pPr lvl="0"/>
            <a:r>
              <a:rPr lang="en-IN" sz="1200" b="1" dirty="0"/>
              <a:t>Forecast Accuracy %</a:t>
            </a:r>
          </a:p>
          <a:p>
            <a:pPr lvl="0"/>
            <a:r>
              <a:rPr lang="en-IN" sz="1200" b="1" dirty="0"/>
              <a:t>Bias %</a:t>
            </a:r>
          </a:p>
          <a:p>
            <a:pPr lvl="0"/>
            <a:r>
              <a:rPr lang="en-IN" sz="1200" b="1" dirty="0"/>
              <a:t>Average Fill Rate %</a:t>
            </a:r>
          </a:p>
          <a:p>
            <a:pPr lvl="0"/>
            <a:r>
              <a:rPr lang="en-IN" sz="1200" b="1" dirty="0"/>
              <a:t>Forecast Error (Units) </a:t>
            </a:r>
          </a:p>
          <a:p>
            <a:pPr marL="0" indent="0">
              <a:buNone/>
            </a:pPr>
            <a:endParaRPr lang="en-IN" sz="1200" b="1" dirty="0"/>
          </a:p>
          <a:p>
            <a:pPr marL="0" indent="0">
              <a:buNone/>
            </a:pPr>
            <a:endParaRPr lang="en-IN" sz="1200" b="1" dirty="0"/>
          </a:p>
          <a:p>
            <a:pPr marL="0" indent="0">
              <a:buNone/>
            </a:pPr>
            <a:endParaRPr lang="en-IN" sz="1200" b="1" dirty="0"/>
          </a:p>
          <a:p>
            <a:pPr marL="0" indent="0">
              <a:buNone/>
            </a:pPr>
            <a:endParaRPr lang="en-IN" sz="1200" b="1" dirty="0"/>
          </a:p>
          <a:p>
            <a:pPr marL="0" indent="0">
              <a:buNone/>
            </a:pPr>
            <a:endParaRPr lang="en-IN" sz="1200" b="1" dirty="0"/>
          </a:p>
          <a:p>
            <a:pPr marL="0" indent="0">
              <a:buNone/>
            </a:pPr>
            <a:endParaRPr lang="en-IN" sz="1200" b="1" dirty="0"/>
          </a:p>
          <a:p>
            <a:pPr marL="0" indent="0">
              <a:buNone/>
            </a:pPr>
            <a:endParaRPr lang="en-IN" sz="1200" b="1" dirty="0"/>
          </a:p>
          <a:p>
            <a:pPr marL="0" indent="0">
              <a:buNone/>
            </a:pPr>
            <a:endParaRPr lang="en-IN" sz="1200" b="1" dirty="0"/>
          </a:p>
          <a:p>
            <a:pPr marL="0" indent="0">
              <a:buNone/>
            </a:pPr>
            <a:endParaRPr lang="en-IN" sz="1200" b="1" dirty="0"/>
          </a:p>
          <a:p>
            <a:pPr marL="0" indent="0">
              <a:buNone/>
            </a:pPr>
            <a:endParaRPr lang="en-IN" sz="1200" b="1" dirty="0"/>
          </a:p>
          <a:p>
            <a:pPr lvl="0"/>
            <a:r>
              <a:rPr lang="en-IN" sz="1200" b="1" dirty="0"/>
              <a:t>Total Inventory Value</a:t>
            </a:r>
          </a:p>
          <a:p>
            <a:pPr lvl="0"/>
            <a:r>
              <a:rPr lang="en-IN" sz="1200" b="1" dirty="0"/>
              <a:t>Total SKUs</a:t>
            </a:r>
          </a:p>
          <a:p>
            <a:pPr lvl="0"/>
            <a:r>
              <a:rPr lang="en-IN" sz="1200" b="1" dirty="0"/>
              <a:t>Low Stock Items</a:t>
            </a:r>
          </a:p>
          <a:p>
            <a:pPr lvl="0"/>
            <a:r>
              <a:rPr lang="en-IN" sz="1200" b="1" dirty="0"/>
              <a:t>Inventory Turnover Ratio</a:t>
            </a:r>
          </a:p>
          <a:p>
            <a:pPr lvl="0"/>
            <a:r>
              <a:rPr lang="en-IN" sz="1200" b="1" dirty="0"/>
              <a:t>Current Stock per SKU</a:t>
            </a:r>
          </a:p>
          <a:p>
            <a:pPr lvl="0"/>
            <a:r>
              <a:rPr lang="en-IN" sz="1200" b="1" dirty="0"/>
              <a:t>Stock Value per SKU</a:t>
            </a:r>
          </a:p>
          <a:p>
            <a:pPr lvl="0"/>
            <a:r>
              <a:rPr lang="en-IN" sz="1200" b="1" dirty="0"/>
              <a:t>Reorder Status</a:t>
            </a:r>
          </a:p>
          <a:p>
            <a:pPr lvl="0"/>
            <a:r>
              <a:rPr lang="en-IN" sz="1200" b="1" dirty="0"/>
              <a:t>Stock Movement</a:t>
            </a:r>
          </a:p>
          <a:p>
            <a:pPr lvl="0"/>
            <a:r>
              <a:rPr lang="en-IN" sz="1200" b="1" dirty="0"/>
              <a:t>Stock Coverage (Days)</a:t>
            </a:r>
          </a:p>
          <a:p>
            <a:pPr lvl="0"/>
            <a:r>
              <a:rPr lang="en-IN" sz="1200" b="1" dirty="0"/>
              <a:t>Total Purchase Value</a:t>
            </a:r>
          </a:p>
          <a:p>
            <a:pPr lvl="0"/>
            <a:r>
              <a:rPr lang="en-IN" sz="1200" b="1" dirty="0"/>
              <a:t>Average Lead Time</a:t>
            </a:r>
          </a:p>
          <a:p>
            <a:pPr lvl="0"/>
            <a:r>
              <a:rPr lang="en-IN" sz="1200" b="1" dirty="0"/>
              <a:t>Supplier On-Time %</a:t>
            </a:r>
          </a:p>
          <a:p>
            <a:pPr lvl="0"/>
            <a:r>
              <a:rPr lang="en-IN" sz="1200" b="1" dirty="0"/>
              <a:t>Pending Purchase Orders</a:t>
            </a:r>
          </a:p>
          <a:p>
            <a:pPr lvl="0"/>
            <a:r>
              <a:rPr lang="en-IN" sz="1200" b="1" dirty="0"/>
              <a:t>Total Sales Value</a:t>
            </a:r>
          </a:p>
          <a:p>
            <a:pPr lvl="0"/>
            <a:r>
              <a:rPr lang="en-IN" sz="1200" b="1" dirty="0"/>
              <a:t>Gross Profit</a:t>
            </a:r>
          </a:p>
          <a:p>
            <a:pPr lvl="0"/>
            <a:r>
              <a:rPr lang="en-IN" sz="1200" b="1" dirty="0"/>
              <a:t>Stock-Out Count</a:t>
            </a:r>
          </a:p>
          <a:p>
            <a:pPr lvl="0"/>
            <a:r>
              <a:rPr lang="en-IN" sz="1200" b="1" dirty="0"/>
              <a:t>Backorder %</a:t>
            </a:r>
          </a:p>
          <a:p>
            <a:pPr lvl="0"/>
            <a:r>
              <a:rPr lang="en-IN" sz="1200" b="1" dirty="0"/>
              <a:t>Top-Selling Products</a:t>
            </a:r>
          </a:p>
          <a:p>
            <a:pPr lvl="0"/>
            <a:r>
              <a:rPr lang="en-IN" sz="1200" b="1" dirty="0"/>
              <a:t>Inventory Aging (Days)</a:t>
            </a:r>
          </a:p>
          <a:p>
            <a:pPr lvl="0"/>
            <a:r>
              <a:rPr lang="en-IN" sz="1200" b="1" dirty="0"/>
              <a:t>Reorder Point (ROP)</a:t>
            </a:r>
          </a:p>
          <a:p>
            <a:pPr lvl="0"/>
            <a:r>
              <a:rPr lang="en-IN" sz="1200" b="1" dirty="0"/>
              <a:t>Safety Stock</a:t>
            </a:r>
          </a:p>
          <a:p>
            <a:pPr lvl="0"/>
            <a:r>
              <a:rPr lang="en-IN" sz="1200" b="1" dirty="0"/>
              <a:t>Forecasted Demand</a:t>
            </a:r>
          </a:p>
          <a:p>
            <a:pPr lvl="0"/>
            <a:r>
              <a:rPr lang="en-IN" sz="1200" b="1" dirty="0"/>
              <a:t>Inventory Value Trend</a:t>
            </a:r>
          </a:p>
          <a:p>
            <a:pPr marL="0" indent="0">
              <a:buNone/>
            </a:pPr>
            <a:endParaRPr lang="en-IN" sz="1000" b="1" dirty="0"/>
          </a:p>
        </p:txBody>
      </p:sp>
    </p:spTree>
    <p:extLst>
      <p:ext uri="{BB962C8B-B14F-4D97-AF65-F5344CB8AC3E}">
        <p14:creationId xmlns:p14="http://schemas.microsoft.com/office/powerpoint/2010/main" val="3627058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EE358D-B901-D6AF-18EA-475D25467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5417"/>
          </a:xfrm>
        </p:spPr>
        <p:txBody>
          <a:bodyPr/>
          <a:lstStyle/>
          <a:p>
            <a:pPr algn="ctr"/>
            <a:r>
              <a:rPr lang="en-IN" u="sng" dirty="0">
                <a:solidFill>
                  <a:srgbClr val="660033"/>
                </a:solidFill>
                <a:latin typeface="Algerian" panose="04020705040A02060702" pitchFamily="82" charset="0"/>
              </a:rPr>
              <a:t>M.S. Excel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616AB5-44C8-B130-9F2C-80B6A14D1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0" t="29964" r="56614" b="16272"/>
          <a:stretch>
            <a:fillRect/>
          </a:stretch>
        </p:blipFill>
        <p:spPr>
          <a:xfrm>
            <a:off x="315907" y="2054942"/>
            <a:ext cx="5612946" cy="368709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9B44D9-F2D3-FDDD-E8B3-DA975A9711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22" t="29964" r="42903" b="18853"/>
          <a:stretch>
            <a:fillRect/>
          </a:stretch>
        </p:blipFill>
        <p:spPr>
          <a:xfrm>
            <a:off x="6293942" y="2054939"/>
            <a:ext cx="5612946" cy="368709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702246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3BE36-D089-0214-F00E-AAF3B67FA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983"/>
            <a:ext cx="10515600" cy="1325563"/>
          </a:xfrm>
        </p:spPr>
        <p:txBody>
          <a:bodyPr/>
          <a:lstStyle/>
          <a:p>
            <a:pPr algn="ctr"/>
            <a:r>
              <a:rPr lang="en-IN" u="sng" dirty="0">
                <a:solidFill>
                  <a:srgbClr val="660033"/>
                </a:solidFill>
                <a:latin typeface="Algerian" panose="04020705040A02060702" pitchFamily="82" charset="0"/>
              </a:rPr>
              <a:t>TABLEAU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9BFBE3-2671-7491-E0DE-629D9E0C6D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50" t="15197" b="12115"/>
          <a:stretch>
            <a:fillRect/>
          </a:stretch>
        </p:blipFill>
        <p:spPr>
          <a:xfrm>
            <a:off x="6115664" y="2045110"/>
            <a:ext cx="5952616" cy="310699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5D80BA-A973-E130-0198-DFD3657658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50" t="15054" r="1969" b="11541"/>
          <a:stretch>
            <a:fillRect/>
          </a:stretch>
        </p:blipFill>
        <p:spPr>
          <a:xfrm>
            <a:off x="104055" y="1983664"/>
            <a:ext cx="5826487" cy="32470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7235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F4169-CA0A-7EB4-D207-CE30FF9AB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151"/>
            <a:ext cx="10515600" cy="1325563"/>
          </a:xfrm>
        </p:spPr>
        <p:txBody>
          <a:bodyPr/>
          <a:lstStyle/>
          <a:p>
            <a:pPr algn="ctr"/>
            <a:r>
              <a:rPr lang="en-IN" u="sng" dirty="0">
                <a:solidFill>
                  <a:srgbClr val="660033"/>
                </a:solidFill>
                <a:latin typeface="Algerian" panose="04020705040A02060702" pitchFamily="82" charset="0"/>
              </a:rPr>
              <a:t>POWER Bi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3A8AE2-201E-99D1-ECE9-602A0BC058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3" t="18065" r="28548" b="12688"/>
          <a:stretch>
            <a:fillRect/>
          </a:stretch>
        </p:blipFill>
        <p:spPr>
          <a:xfrm>
            <a:off x="6096000" y="1809136"/>
            <a:ext cx="6017343" cy="36969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DDF668-59C4-E374-00C9-D5D7FC5B34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8" t="18724" r="26857" b="12766"/>
          <a:stretch>
            <a:fillRect/>
          </a:stretch>
        </p:blipFill>
        <p:spPr>
          <a:xfrm>
            <a:off x="107003" y="1809136"/>
            <a:ext cx="5865778" cy="36969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89305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D2880-7295-A448-BC81-862A8A31B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654"/>
            <a:ext cx="10515600" cy="1325563"/>
          </a:xfrm>
        </p:spPr>
        <p:txBody>
          <a:bodyPr/>
          <a:lstStyle/>
          <a:p>
            <a:pPr algn="ctr"/>
            <a:r>
              <a:rPr lang="en-IN" u="sng" dirty="0">
                <a:solidFill>
                  <a:srgbClr val="660033"/>
                </a:solidFill>
                <a:latin typeface="Algerian" panose="04020705040A02060702" pitchFamily="82" charset="0"/>
              </a:rPr>
              <a:t>SQL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DF89EE-7D21-E0D4-EB54-4F5AC565427A}"/>
              </a:ext>
            </a:extLst>
          </p:cNvPr>
          <p:cNvSpPr/>
          <p:nvPr/>
        </p:nvSpPr>
        <p:spPr>
          <a:xfrm>
            <a:off x="2320413" y="3067665"/>
            <a:ext cx="3421626" cy="112087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hlinkClick r:id="rId2" action="ppaction://hlinkfile"/>
              </a:rPr>
              <a:t>INVENTORY</a:t>
            </a:r>
            <a:endParaRPr lang="en-IN" sz="2800" b="1" dirty="0"/>
          </a:p>
        </p:txBody>
      </p:sp>
      <p:sp>
        <p:nvSpPr>
          <p:cNvPr id="5" name="Rectangle 4">
            <a:hlinkClick r:id="rId3" action="ppaction://hlinkfile"/>
            <a:extLst>
              <a:ext uri="{FF2B5EF4-FFF2-40B4-BE49-F238E27FC236}">
                <a16:creationId xmlns:a16="http://schemas.microsoft.com/office/drawing/2014/main" id="{57C68491-BD31-CA60-BF42-A3DC3EAC90D9}"/>
              </a:ext>
            </a:extLst>
          </p:cNvPr>
          <p:cNvSpPr/>
          <p:nvPr/>
        </p:nvSpPr>
        <p:spPr>
          <a:xfrm>
            <a:off x="6499123" y="3067665"/>
            <a:ext cx="3539612" cy="112087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hlinkClick r:id="rId3" action="ppaction://hlinkfile"/>
              </a:rPr>
              <a:t>SUPPLY CHAIN MGT</a:t>
            </a:r>
            <a:r>
              <a:rPr lang="en-IN" sz="28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9513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75F229-7C23-B5B9-D01F-F9CEAE1E2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980174" cy="1325563"/>
          </a:xfrm>
        </p:spPr>
        <p:txBody>
          <a:bodyPr>
            <a:normAutofit/>
          </a:bodyPr>
          <a:lstStyle/>
          <a:p>
            <a:r>
              <a:rPr lang="en-IN" sz="3600" u="sng" dirty="0">
                <a:solidFill>
                  <a:srgbClr val="660033"/>
                </a:solidFill>
                <a:latin typeface="Algerian" panose="04020705040A02060702" pitchFamily="82" charset="0"/>
              </a:rPr>
              <a:t>Essential Takeaways 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325E19-A083-0029-77C2-65AEFAD1F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16731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📦 </a:t>
            </a:r>
            <a:r>
              <a:rPr lang="en-IN" sz="2900" b="1" dirty="0"/>
              <a:t>Supply Chain Fundamentals</a:t>
            </a:r>
          </a:p>
          <a:p>
            <a:r>
              <a:rPr lang="en-IN" sz="2500" dirty="0"/>
              <a:t>Understood end-to-end flow: Procurement → Inventory → Sales → Logistics</a:t>
            </a:r>
          </a:p>
          <a:p>
            <a:r>
              <a:rPr lang="en-IN" sz="2500" dirty="0"/>
              <a:t>Learned key SCM KPIs: Lead Time, Fill Rate, Stock Turnover, Forecast Accuracy</a:t>
            </a:r>
          </a:p>
          <a:p>
            <a:pPr marL="0" indent="0">
              <a:buNone/>
            </a:pPr>
            <a:r>
              <a:rPr lang="en-IN" b="1" dirty="0"/>
              <a:t>🧹</a:t>
            </a:r>
            <a:r>
              <a:rPr lang="en-IN" sz="2900" b="1" dirty="0"/>
              <a:t> Data Preparation &amp; Modelling</a:t>
            </a:r>
          </a:p>
          <a:p>
            <a:r>
              <a:rPr lang="en-IN" sz="2500" dirty="0"/>
              <a:t>Cleaned, merged, and standardized data using </a:t>
            </a:r>
            <a:r>
              <a:rPr lang="en-IN" sz="2500" b="1" dirty="0"/>
              <a:t>Excel &amp; MySQL</a:t>
            </a:r>
            <a:endParaRPr lang="en-IN" sz="2500" dirty="0"/>
          </a:p>
          <a:p>
            <a:r>
              <a:rPr lang="en-IN" sz="2500" dirty="0"/>
              <a:t>Designed </a:t>
            </a:r>
            <a:r>
              <a:rPr lang="en-IN" sz="2500"/>
              <a:t>a </a:t>
            </a:r>
            <a:r>
              <a:rPr lang="en-IN" sz="2500" b="1"/>
              <a:t>Relationships</a:t>
            </a:r>
            <a:r>
              <a:rPr lang="en-IN" sz="2500"/>
              <a:t> </a:t>
            </a:r>
            <a:r>
              <a:rPr lang="en-IN" sz="2500" dirty="0"/>
              <a:t>for smooth analytics and dashboard performance</a:t>
            </a:r>
          </a:p>
          <a:p>
            <a:pPr marL="0" indent="0">
              <a:buNone/>
            </a:pPr>
            <a:r>
              <a:rPr lang="en-IN" b="1" dirty="0"/>
              <a:t>📊 </a:t>
            </a:r>
            <a:r>
              <a:rPr lang="en-IN" sz="2900" b="1" dirty="0"/>
              <a:t>Dashboard &amp; Tool Mastery</a:t>
            </a:r>
          </a:p>
          <a:p>
            <a:r>
              <a:rPr lang="en-IN" sz="2500" dirty="0"/>
              <a:t>Built interactive dashboards in </a:t>
            </a:r>
            <a:r>
              <a:rPr lang="en-IN" sz="2500" b="1" dirty="0"/>
              <a:t>Power BI, Tableau, Excel</a:t>
            </a:r>
            <a:endParaRPr lang="en-IN" sz="2500" dirty="0"/>
          </a:p>
          <a:p>
            <a:r>
              <a:rPr lang="en-IN" sz="2500" dirty="0"/>
              <a:t>Used SQL queries for data extraction, validation, and metric creation</a:t>
            </a:r>
          </a:p>
          <a:p>
            <a:pPr marL="0" indent="0">
              <a:buNone/>
            </a:pPr>
            <a:r>
              <a:rPr lang="en-IN" b="1" dirty="0"/>
              <a:t>📈 </a:t>
            </a:r>
            <a:r>
              <a:rPr lang="en-IN" sz="2900" b="1" dirty="0"/>
              <a:t>KPI Analysis &amp; Insights</a:t>
            </a:r>
          </a:p>
          <a:p>
            <a:r>
              <a:rPr lang="en-IN" sz="2500" dirty="0"/>
              <a:t>Developed KPIs for sales, procurement, warehouse, and transportation</a:t>
            </a:r>
          </a:p>
          <a:p>
            <a:r>
              <a:rPr lang="en-IN" sz="2500" dirty="0"/>
              <a:t>Strengthened ability to interpret data and highlight performance gaps</a:t>
            </a:r>
          </a:p>
          <a:p>
            <a:pPr marL="0" indent="0">
              <a:buNone/>
            </a:pPr>
            <a:r>
              <a:rPr lang="en-IN" b="1" dirty="0"/>
              <a:t>🧠 </a:t>
            </a:r>
            <a:r>
              <a:rPr lang="en-IN" sz="2900" b="1" dirty="0"/>
              <a:t>Business Impact &amp; Decision-Making</a:t>
            </a:r>
          </a:p>
          <a:p>
            <a:r>
              <a:rPr lang="en-IN" sz="2500" dirty="0"/>
              <a:t>Learned to translate data into </a:t>
            </a:r>
            <a:r>
              <a:rPr lang="en-IN" sz="2500" b="1" dirty="0"/>
              <a:t>actionable recommendations</a:t>
            </a:r>
            <a:endParaRPr lang="en-IN" sz="2500" dirty="0"/>
          </a:p>
          <a:p>
            <a:r>
              <a:rPr lang="en-IN" sz="2500" dirty="0"/>
              <a:t>Improved understanding of how analytics supports strategic planning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DFB688-B6F4-E814-0865-4AEE2E2D6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886006" y="365125"/>
            <a:ext cx="3164656" cy="316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631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3000"/>
            <a:lum/>
          </a:blip>
          <a:srcRect/>
          <a:stretch>
            <a:fillRect l="23000" t="-5000" r="10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883ADE-1099-4D91-AA4E-26B6E96499A6}"/>
              </a:ext>
            </a:extLst>
          </p:cNvPr>
          <p:cNvSpPr/>
          <p:nvPr/>
        </p:nvSpPr>
        <p:spPr>
          <a:xfrm>
            <a:off x="4581465" y="2505670"/>
            <a:ext cx="378783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u="sng" cap="none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 YOU</a:t>
            </a:r>
          </a:p>
        </p:txBody>
      </p:sp>
    </p:spTree>
    <p:extLst>
      <p:ext uri="{BB962C8B-B14F-4D97-AF65-F5344CB8AC3E}">
        <p14:creationId xmlns:p14="http://schemas.microsoft.com/office/powerpoint/2010/main" val="805531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988</TotalTime>
  <Words>539</Words>
  <Application>Microsoft Office PowerPoint</Application>
  <PresentationFormat>Widescreen</PresentationFormat>
  <Paragraphs>122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Algerian</vt:lpstr>
      <vt:lpstr>Arial</vt:lpstr>
      <vt:lpstr>Calibri</vt:lpstr>
      <vt:lpstr>Calibri Light</vt:lpstr>
      <vt:lpstr>Cambria</vt:lpstr>
      <vt:lpstr>Wingdings</vt:lpstr>
      <vt:lpstr>Office Theme</vt:lpstr>
      <vt:lpstr>PowerPoint Presentation</vt:lpstr>
      <vt:lpstr>📌 Supply Chain Management Project – Summary </vt:lpstr>
      <vt:lpstr>KPI’s used                ( Supply CHAIN )                                          ( INVENTORY )</vt:lpstr>
      <vt:lpstr>M.S. Excel</vt:lpstr>
      <vt:lpstr>TABLEAU</vt:lpstr>
      <vt:lpstr>POWER Bi</vt:lpstr>
      <vt:lpstr>SQL </vt:lpstr>
      <vt:lpstr>Essential Takeaways 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Mitali Paliwal</dc:creator>
  <cp:lastModifiedBy>Mitali Paliwal</cp:lastModifiedBy>
  <cp:revision>1</cp:revision>
  <dcterms:created xsi:type="dcterms:W3CDTF">2025-11-19T20:02:56Z</dcterms:created>
  <dcterms:modified xsi:type="dcterms:W3CDTF">2025-11-22T04:43:04Z</dcterms:modified>
</cp:coreProperties>
</file>